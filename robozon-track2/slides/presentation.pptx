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сортируем сотню тысяч товаров в час на площади четырёх баскетбольных площадок. Покажем как — и докажем моделью. (0:15)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Ключевое: меньше площадь — лучше, и всё должно быть подтверждено валидированной цифровой моделью. (0:25)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Кросс-белт на 400 направлений — это 8 колец, 3200 станций и все 20 000 м². Мы пошли туда, где мощность добавляется роботом, а не стройкой. (0:35)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Вертикаль вместо горизонтали: этажи роботов делят одну и ту же матрицу из 400 шахт. (0:40)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ярус — конвейер без конвейера: маршрут любой к любому. (0:35)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пять обязательных процессов — автоматические. Люди — только расходники и reject. (0:40)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Требование сетевого взаимодействия закрыто кодом: вот живой GET /item/{barcode}. (0:30)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— не анимация, а инструмент: каждый параметр из config.py — инженерное решение. (0:35)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независимых метода сошлись — это и есть валидированная модель, подтверждённая сопоставлением с расчётами. (0:35)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обещаем устойчивость — мы её измерили. Вот кривая останова целого этажа. (0:45)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Итоговая витрина чисел — все из results/summary_all.json, воспроизводимы одной командой. (0:30)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Рой растёт поставкой роботов, а не стройкой. Спасибо — вопросы! (0:35)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АСР-100/400 «РОЙ»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Автоматизированная сортировка 100 000 товаров/час на 400 направлений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16294F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43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3 690 м²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324612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— 18% лимита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26060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16294F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2743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1 380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70632" y="324612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роботов на 3 ярусах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6060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16294F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743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99,96%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8032" y="324612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сортировки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26060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16294F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2743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3,3%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85432" y="324612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отклонение модели от расчёта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«Ящик Шрёдингера»  ·  Ozon Tech «Робозон»  ·  Задача 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и рамки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795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 шт/ч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" y="16184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единичный поток товаров на входе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11795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направлений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456432" y="16184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исходящих, укладка в КТЯ (картонные ящики)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1072" y="11795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г – 5 кг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291072" y="16184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габариты до 400×320×280 мм, есть хрупкие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27340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процессов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1792" y="31729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 · контроль заполнения · уплотнение · съём · установка КТЯ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2606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56432" y="27340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 по сети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456432" y="31729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штрихкод → запрос атрибутов во внешнюю систему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60604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91072" y="27340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20 000 м²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291072" y="31729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площадь — выше оценка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условие жюри: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заявления должны быть подтверждены валидированной цифровой моделью — сопоставлением с независимыми расчётами.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классика: сравнение архитектур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737360"/>
                <a:gridCol w="1371600"/>
                <a:gridCol w="1737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Кросс-белт (кольцевой сортер)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Двухступенчатый кросс-белт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Шаттлы + лифты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Робото-рой (выбран)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Площадь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20 000 м² (весь лимит)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14 000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8 000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3 690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Механика на 400 направлений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колец, 3 200 станций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машин + 140 передач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111+ лифтов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матрица портов 21×20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Рост потока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стройка нового кольца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стройка модуля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новые лифты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докупить роботов (дни)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Отказ одного узла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−12,5% мощности (кольцо)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передачи хрупки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лифт — узкое место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−0,07% (один робот)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решения — в алгоритмах и симуляции, а это полностью проверяемо цифровой моделью.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три яруса роботов над зоной коробов</a:t>
            </a:r>
            <a:endParaRPr lang="en-US" sz="2600" dirty="0"/>
          </a:p>
        </p:txBody>
      </p:sp>
      <p:pic>
        <p:nvPicPr>
          <p:cNvPr id="5" name="Image 0" descr="/home/claude/pptx_assets/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005840"/>
            <a:ext cx="5486400" cy="3584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51560"/>
            <a:ext cx="2743200" cy="804672"/>
          </a:xfrm>
          <a:prstGeom prst="roundRect">
            <a:avLst>
              <a:gd name="adj" fmla="val 6818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" y="1124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яруса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1792" y="14356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отм. +3,6 / +6,8 / +10,0 м — одинаковые поля 60×46 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2743200" cy="804672"/>
          </a:xfrm>
          <a:prstGeom prst="roundRect">
            <a:avLst>
              <a:gd name="adj" fmla="val 6818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" y="2039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1 254 шахты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1792" y="23500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порты трёх ярусов сливаются в одну КТЯ-станцию направления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2743200" cy="804672"/>
          </a:xfrm>
          <a:prstGeom prst="roundRect">
            <a:avLst>
              <a:gd name="adj" fmla="val 6818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" y="29535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лент подачи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1792" y="3264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наклонные, балансировка по загрузке ярусов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794760"/>
            <a:ext cx="2743200" cy="804672"/>
          </a:xfrm>
          <a:prstGeom prst="roundRect">
            <a:avLst>
              <a:gd name="adj" fmla="val 6818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1792" y="3867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3 690 м²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1792" y="4178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5,4 раза меньше лимита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Ярус изнутри: конвейер без конвейера</a:t>
            </a:r>
            <a:endParaRPr lang="en-US" sz="2600" dirty="0"/>
          </a:p>
        </p:txBody>
      </p:sp>
      <p:pic>
        <p:nvPicPr>
          <p:cNvPr id="5" name="Image 0" descr="/home/claude/pptx_assets/layout_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5257800" cy="3758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7880" y="1188720"/>
            <a:ext cx="2834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 портов: 400 направлений + 16 резервных + reject (зона нечитаемых)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индукционных станций с DWS (обмер-взвес-скан) по периметру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роботов, сетка QR-навигации с шагом 0,6 м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зарядных дока — зарядка «подхватом» 15 минут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«любой к любому»: нет жёсткой механики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 АМР-Т5 и КТЯ-станция</a:t>
            </a:r>
            <a:endParaRPr lang="en-US" sz="2600" dirty="0"/>
          </a:p>
        </p:txBody>
      </p:sp>
      <p:pic>
        <p:nvPicPr>
          <p:cNvPr id="5" name="Image 0" descr="/home/claude/pptx_asset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4160520" cy="2377440"/>
          </a:xfrm>
          <a:prstGeom prst="rect">
            <a:avLst/>
          </a:prstGeom>
        </p:spPr>
      </p:pic>
      <p:pic>
        <p:nvPicPr>
          <p:cNvPr id="6" name="Image 1" descr="/home/claude/pptx_assets/box_s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24128"/>
            <a:ext cx="4160520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611880"/>
            <a:ext cx="4160520" cy="1234440"/>
          </a:xfrm>
          <a:prstGeom prst="roundRect">
            <a:avLst>
              <a:gd name="adj" fmla="val 4444"/>
            </a:avLst>
          </a:prstGeom>
          <a:solidFill>
            <a:srgbClr val="FFF7E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21792" y="37307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42,5 с → 84,7 сорт/ч на робота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посадка 1,8 с · ход 46,6 м · сброс 2,5 с (хрупкие — мягкий 4,5 с) · порожний ход к ближайшей станции 18,5 м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754880" y="3611880"/>
            <a:ext cx="4160520" cy="1234440"/>
          </a:xfrm>
          <a:prstGeom prst="roundRect">
            <a:avLst>
              <a:gd name="adj" fmla="val 4444"/>
            </a:avLst>
          </a:prstGeom>
          <a:solidFill>
            <a:srgbClr val="FFF7E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919472" y="37307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Тандем коробов: смена за 8 с без остановки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закрытие: объём ≥ 80% / вес ≥ 18 кг / таймаут · вибро-уплотнение · все 5 обязательных процессов — автоматические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сетевое требование</a:t>
            </a:r>
            <a:endParaRPr lang="en-US" sz="2600" dirty="0"/>
          </a:p>
        </p:txBody>
      </p:sp>
      <p:pic>
        <p:nvPicPr>
          <p:cNvPr id="5" name="Image 0" descr="/home/claude/pptx_assets/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760720" cy="3648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188720"/>
            <a:ext cx="2286000" cy="1600200"/>
          </a:xfrm>
          <a:prstGeom prst="roundRect">
            <a:avLst>
              <a:gd name="adj" fmla="val 3429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65392" y="13258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 → WCS → FMS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 → сортировка → флот (MAPF — поиск путей без столкновений, такт 100 мс)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0" y="3017520"/>
            <a:ext cx="2286000" cy="1600200"/>
          </a:xfrm>
          <a:prstGeom prst="roundRect">
            <a:avLst>
              <a:gd name="adj" fmla="val 3429"/>
            </a:avLst>
          </a:prstGeom>
          <a:solidFill>
            <a:srgbClr val="EAF6E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65392" y="315468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Живой код в репо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mock-WMS + сквозной тест: 1 958 HTTP-запросов GET /item/{barcode} за прогон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модель: инструмент, а не анимация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75688" cy="1005840"/>
          </a:xfrm>
          <a:prstGeom prst="roundRect">
            <a:avLst>
              <a:gd name="adj" fmla="val 5455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SimPy (DES)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4996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дискретно-событийная модель полного жизненного цикла товара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70048" y="1097280"/>
            <a:ext cx="2075688" cy="1005840"/>
          </a:xfrm>
          <a:prstGeom prst="roundRect">
            <a:avLst>
              <a:gd name="adj" fmla="val 5455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07208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800 000 товаров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07208" y="14996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часов работы системы считаются за 38 секунд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2075688" cy="1005840"/>
          </a:xfrm>
          <a:prstGeom prst="roundRect">
            <a:avLst>
              <a:gd name="adj" fmla="val 5455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Трафик роботов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4360" y="26426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макромодель плотности: скорость падает с числом едущих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70048" y="2240280"/>
            <a:ext cx="2075688" cy="1005840"/>
          </a:xfrm>
          <a:prstGeom prst="roundRect">
            <a:avLst>
              <a:gd name="adj" fmla="val 5455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07208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в config.py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07208" y="26426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параметр — инженерное решение, seed зафиксированы</a:t>
            </a:r>
            <a:endParaRPr lang="en-US" sz="950" dirty="0"/>
          </a:p>
        </p:txBody>
      </p:sp>
      <p:pic>
        <p:nvPicPr>
          <p:cNvPr id="17" name="Image 0" descr="/home/claude/pptx_assets/latency_c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143000"/>
            <a:ext cx="3794760" cy="1709928"/>
          </a:xfrm>
          <a:prstGeom prst="rect">
            <a:avLst/>
          </a:prstGeom>
        </p:spPr>
      </p:pic>
      <p:pic>
        <p:nvPicPr>
          <p:cNvPr id="18" name="Image 1" descr="/home/claude/pptx_assets/queu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017520"/>
            <a:ext cx="3794760" cy="17099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352044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Слева направо: распределение времени «приёмка → короб» (p95 = 49 с) и поведение очередей в нештатных сценариях.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Валидация: два независимых метода сошлись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— теория массового обслуживания (формула Эрланга C — ожидание в очереди), баланс потоков. Симуляция — DES. Совпадение подтверждает корректность обоих.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74980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Метрика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Аналитика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Симуляция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Отклонение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Производительность, шт/ч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100 024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Утилизация роботов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0,856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0,884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Утилизация индукции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0,833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0,833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Коробов в час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4 146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4 034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Энергия, Вт·ч/товар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526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и есть «валидированная модель, подтверждённая сопоставлением с расчётами» — высшая градация критерия.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Нештатные режимы: устойчивость измерена</a:t>
            </a:r>
            <a:endParaRPr lang="en-US" sz="2600" dirty="0"/>
          </a:p>
        </p:txBody>
      </p:sp>
      <p:pic>
        <p:nvPicPr>
          <p:cNvPr id="5" name="Image 0" descr="/home/claude/pptx_assets/through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21208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106424"/>
            <a:ext cx="475488" cy="47548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0" y="1106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10515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 +15% на час — переварен без потерь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97880" y="1819656"/>
            <a:ext cx="475488" cy="47548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0" name="Text 7"/>
          <p:cNvSpPr/>
          <p:nvPr/>
        </p:nvSpPr>
        <p:spPr>
          <a:xfrm>
            <a:off x="589788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92240" y="17647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−5% роботов — незаметно (запас флота 17%)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97880" y="2532888"/>
            <a:ext cx="475488" cy="47548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0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92240" y="247802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останов яруса 30 мин — поток удержан, хвост за 22 мин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97880" y="3246120"/>
            <a:ext cx="475488" cy="47548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6" name="Text 13"/>
          <p:cNvSpPr/>
          <p:nvPr/>
        </p:nvSpPr>
        <p:spPr>
          <a:xfrm>
            <a:off x="5897880" y="3246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31912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перекос спроса — резервные порты подхватили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97880" y="3959352"/>
            <a:ext cx="475488" cy="47548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9" name="Text 16"/>
          <p:cNvSpPr/>
          <p:nvPr/>
        </p:nvSpPr>
        <p:spPr>
          <a:xfrm>
            <a:off x="5897880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92240" y="390448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предел системы: 109 000 шт/ч (запас 9%)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388620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графике — базовый режим, пик +15% и полный останов яруса: провал, перераспределение на два яруса, восстановление.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числа (из прогонов модели)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FFF7E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35608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100 024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шт/ч устойчиво, 8 часов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87752" y="123444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7752" y="1435608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с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587752" y="193852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«приёмка → короб»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18304" y="123444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1435608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99,958%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718304" y="193852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сортировки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48856" y="123444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48856" y="1435608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83,4%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848856" y="193852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среднее заполнение КТЯ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127248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3 690 м²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457200" y="36301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(18% лимита)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87752" y="292608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87752" y="3127248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 Вт·ч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2587752" y="36301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энергия на товар (607 кВт)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18304" y="292608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18304" y="3127248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109 000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4718304" y="36301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шт/ч — измеренный предел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48856" y="2926080"/>
            <a:ext cx="1947672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48856" y="3127248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0,60 ₽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6848856" y="36301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 на товар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87552" y="23774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«Рой» растёт поставкой роботов, а не стройкой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4069080" cy="1024128"/>
          </a:xfrm>
          <a:prstGeom prst="roundRect">
            <a:avLst>
              <a:gd name="adj" fmla="val 6250"/>
            </a:avLst>
          </a:prstGeom>
          <a:solidFill>
            <a:srgbClr val="16294F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потока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роботов и индукции — программно, без стройки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069080" cy="1024128"/>
          </a:xfrm>
          <a:prstGeom prst="roundRect">
            <a:avLst>
              <a:gd name="adj" fmla="val 6250"/>
            </a:avLst>
          </a:prstGeom>
          <a:solidFill>
            <a:srgbClr val="16294F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34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×1,33 мощности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четвёртый ярус: +3,4 м высоты здания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4069080" cy="1024128"/>
          </a:xfrm>
          <a:prstGeom prst="roundRect">
            <a:avLst>
              <a:gd name="adj" fmla="val 6250"/>
            </a:avLst>
          </a:prstGeom>
          <a:solidFill>
            <a:srgbClr val="16294F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23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направлений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перекарта портов + 5 колонн матрицы (+12 м)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2331720"/>
            <a:ext cx="4069080" cy="1024128"/>
          </a:xfrm>
          <a:prstGeom prst="roundRect">
            <a:avLst>
              <a:gd name="adj" fmla="val 6250"/>
            </a:avLst>
          </a:prstGeom>
          <a:solidFill>
            <a:srgbClr val="16294F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423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Мини-СЦ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7889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ярус · 150 роботов · та же компонентная база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703320"/>
            <a:ext cx="8183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Комплект сдачи: отчёт · валидированная модель · 8 сценариев · схемы · CAD · Docker · mock-WMS · видео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4343400"/>
            <a:ext cx="8183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A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github.com/…/robozon-track2  ·  команда «Ящик Шрёдингера»  ·  спасибо — вопросы!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АСР-100/400 «Рой»</dc:title>
  <dc:subject>PptxGenJS Presentation</dc:subject>
  <dc:creator>Ящик Шрёдингера</dc:creator>
  <cp:lastModifiedBy>Ящик Шрёдингера</cp:lastModifiedBy>
  <cp:revision>1</cp:revision>
  <dcterms:created xsi:type="dcterms:W3CDTF">2026-07-06T09:05:44Z</dcterms:created>
  <dcterms:modified xsi:type="dcterms:W3CDTF">2026-07-06T09:05:44Z</dcterms:modified>
</cp:coreProperties>
</file>